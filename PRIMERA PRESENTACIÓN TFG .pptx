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82ad165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82ad165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a331fabd3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a331fabd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a331fabd3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a331fabd3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331fabd3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a331fabd3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331fabd3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331fabd3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331fabd3c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331fabd3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d765a03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d765a03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82ad165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a82ad165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d765a03f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d765a03f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199300" y="985400"/>
            <a:ext cx="8520600" cy="26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000"/>
              <a:t>DEEP LEARNING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000"/>
              <a:t>APPROACH TO IN SILICO DRUG </a:t>
            </a:r>
            <a:endParaRPr b="1" sz="30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000"/>
              <a:t>REPOSITIONING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INPUT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223625" y="1068450"/>
            <a:ext cx="88086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REDES QUE CONFORMAN EL INPUT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INTERACCIONES FÁRMACO - FÁRMACO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INTERACCIONES FÁRMACO - OBJETIVO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ASOCIACIONES DE LOS EFECTOS SECUNDARIOS DE LOS FÁRMACOS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SIMILITUDES QUÍMICAS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SIMILITUDES TERAPÉUTICAS DERIVADAS DEL SISTEMA DE CLASIFICACIÓN ANATÓMICA </a:t>
            </a:r>
            <a:r>
              <a:rPr lang="es"/>
              <a:t>TERAPÉUTICA</a:t>
            </a:r>
            <a:r>
              <a:rPr lang="es"/>
              <a:t> QUÍMICA (ATC - índice de medicamentos organizados según grupos terapéuticos)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 SIMILITUDES EN LA SECUENCIA OBJETIVO DE LOS FÁRMACOS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PROCESO BIOLÓGICO DE ONTOLOGÍA GENÉTICA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COMPONENTE CELULAR DE ONCOLOGÍA GENÉTICA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FUNCIÓN MOLECULAR DE ONTOLOGÍA GENÉTICA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0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DATASET </a:t>
            </a:r>
            <a:endParaRPr sz="3800">
              <a:solidFill>
                <a:srgbClr val="000000"/>
              </a:solidFill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62" y="1200425"/>
            <a:ext cx="763621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375" y="2507275"/>
            <a:ext cx="4328750" cy="24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3525" y="2737925"/>
            <a:ext cx="3934125" cy="21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2190900" y="1916400"/>
            <a:ext cx="299700" cy="447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4661900" y="3621025"/>
            <a:ext cx="409500" cy="33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- AUTOENCODER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4673400" cy="3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ENCODER</a:t>
            </a:r>
            <a:r>
              <a:rPr lang="es" sz="1400">
                <a:solidFill>
                  <a:srgbClr val="000000"/>
                </a:solidFill>
              </a:rPr>
              <a:t>: Redes neuronales (INPUTS)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CODE</a:t>
            </a:r>
            <a:r>
              <a:rPr lang="es" sz="1400">
                <a:solidFill>
                  <a:srgbClr val="000000"/>
                </a:solidFill>
              </a:rPr>
              <a:t>: Representación interna o transformación de las redes neuronales extrayendo las principales propiedades de los datos de forma eficiente de manera que comprime la información de entrada para trabajar con ella.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000000"/>
                </a:solidFill>
              </a:rPr>
              <a:t>DECODER</a:t>
            </a:r>
            <a:r>
              <a:rPr lang="es" sz="1400">
                <a:solidFill>
                  <a:srgbClr val="000000"/>
                </a:solidFill>
              </a:rPr>
              <a:t>: Datos de entrada originales modificados por la pérdida de información en el proceso de codificación.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175" y="1971807"/>
            <a:ext cx="3714125" cy="208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11700" y="3686750"/>
            <a:ext cx="4076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*</a:t>
            </a:r>
            <a:r>
              <a:rPr i="1" lang="es"/>
              <a:t>Función de pérdida: Mide la similitud entre el objeto decodificado y objeto que se codifica, es la función objetivo a minimizar.</a:t>
            </a:r>
            <a:endParaRPr i="1" sz="1200"/>
          </a:p>
        </p:txBody>
      </p:sp>
      <p:sp>
        <p:nvSpPr>
          <p:cNvPr id="79" name="Google Shape;79;p16"/>
          <p:cNvSpPr txBox="1"/>
          <p:nvPr/>
        </p:nvSpPr>
        <p:spPr>
          <a:xfrm>
            <a:off x="5282638" y="4137300"/>
            <a:ext cx="33852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Estructura general de un autoencoder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METODOLOGÍA - AUTOENCODER VARIACIONAL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1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highlight>
                  <a:srgbClr val="FFFFFF"/>
                </a:highlight>
              </a:rPr>
              <a:t>Los </a:t>
            </a:r>
            <a:r>
              <a:rPr b="1" lang="es" sz="1400">
                <a:solidFill>
                  <a:srgbClr val="000000"/>
                </a:solidFill>
                <a:highlight>
                  <a:srgbClr val="FFFFFF"/>
                </a:highlight>
              </a:rPr>
              <a:t>Variational AutoEncoders (VAE)</a:t>
            </a:r>
            <a:r>
              <a:rPr lang="es" sz="1400">
                <a:solidFill>
                  <a:srgbClr val="000000"/>
                </a:solidFill>
                <a:highlight>
                  <a:srgbClr val="FFFFFF"/>
                </a:highlight>
              </a:rPr>
              <a:t>  son modelos de aprendizaje que mezclan las redes neuronales de un autoencoder lineal con distribuciones de probabilidad. En el caso de este estudio se usa uno colectivo.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438" y="2571751"/>
            <a:ext cx="4583738" cy="17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311700" y="2361775"/>
            <a:ext cx="3780900" cy="23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DeepDR utiliza (cVAE) para predecir las posibles asociaciones entre fármacos y enfermedades.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/>
              <a:t>Las interacciones son codificadas y decodificadas colectivamente por la misma red de inferencia y red de generación.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4340263" y="4381850"/>
            <a:ext cx="46641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Recomendación colectiva basada en el autoencoder variacional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OUTPUT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209600" y="1194850"/>
            <a:ext cx="85206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s" sz="1400">
                <a:solidFill>
                  <a:srgbClr val="000000"/>
                </a:solidFill>
              </a:rPr>
              <a:t>Información reconstruida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s" sz="1400">
                <a:solidFill>
                  <a:srgbClr val="000000"/>
                </a:solidFill>
              </a:rPr>
              <a:t>Puntuaciones predecidas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25" y="2087350"/>
            <a:ext cx="4755224" cy="17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450" y="2123174"/>
            <a:ext cx="4243550" cy="17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311700" y="3943775"/>
            <a:ext cx="85206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DeepDR predijo la asociaciones entre fármacos y enfermedades; fueron validadas por la base de datos ClinicalTrial.gov (base de datos de ensayos clínicos)  para un AUROC*¹ &gt;= 0.826.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*¹</a:t>
            </a:r>
            <a:r>
              <a:rPr i="1" lang="es">
                <a:solidFill>
                  <a:schemeClr val="dk1"/>
                </a:solidFill>
              </a:rPr>
              <a:t>AUROC: curva de relación entre fármacos y enfermedades</a:t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240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13" y="813525"/>
            <a:ext cx="8520600" cy="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</a:rPr>
              <a:t>Las relaciones obtenidas fármaco-enfermedad a partir del método </a:t>
            </a:r>
            <a:r>
              <a:rPr lang="es" sz="1400">
                <a:solidFill>
                  <a:srgbClr val="000000"/>
                </a:solidFill>
              </a:rPr>
              <a:t>deepDR logró un rendimiento superior a los otros métodos. DeepDR alcanzó un valor AUROC de 0,826, superando significativamente el de </a:t>
            </a:r>
            <a:r>
              <a:rPr b="1" lang="es" sz="1400">
                <a:solidFill>
                  <a:srgbClr val="000000"/>
                </a:solidFill>
              </a:rPr>
              <a:t>DTINet </a:t>
            </a:r>
            <a:r>
              <a:rPr lang="es" sz="1400">
                <a:solidFill>
                  <a:srgbClr val="000000"/>
                </a:solidFill>
              </a:rPr>
              <a:t>(0,732), </a:t>
            </a:r>
            <a:r>
              <a:rPr b="1" lang="es" sz="1400">
                <a:solidFill>
                  <a:srgbClr val="000000"/>
                </a:solidFill>
              </a:rPr>
              <a:t>KBMF </a:t>
            </a:r>
            <a:r>
              <a:rPr lang="es" sz="1400">
                <a:solidFill>
                  <a:srgbClr val="000000"/>
                </a:solidFill>
              </a:rPr>
              <a:t>(0,673), </a:t>
            </a:r>
            <a:r>
              <a:rPr b="1" lang="es" sz="1400">
                <a:solidFill>
                  <a:srgbClr val="000000"/>
                </a:solidFill>
              </a:rPr>
              <a:t>RF </a:t>
            </a:r>
            <a:r>
              <a:rPr lang="es" sz="1400">
                <a:solidFill>
                  <a:srgbClr val="000000"/>
                </a:solidFill>
              </a:rPr>
              <a:t>(0,788), </a:t>
            </a:r>
            <a:r>
              <a:rPr b="1" lang="es" sz="1400">
                <a:solidFill>
                  <a:srgbClr val="000000"/>
                </a:solidFill>
              </a:rPr>
              <a:t>SVM </a:t>
            </a:r>
            <a:r>
              <a:rPr lang="es" sz="1400">
                <a:solidFill>
                  <a:srgbClr val="000000"/>
                </a:solidFill>
              </a:rPr>
              <a:t>(0,753), </a:t>
            </a:r>
            <a:r>
              <a:rPr b="1" lang="es" sz="1400">
                <a:solidFill>
                  <a:srgbClr val="000000"/>
                </a:solidFill>
              </a:rPr>
              <a:t>RWR </a:t>
            </a:r>
            <a:r>
              <a:rPr lang="es" sz="1400">
                <a:solidFill>
                  <a:srgbClr val="000000"/>
                </a:solidFill>
              </a:rPr>
              <a:t>(0,601) y </a:t>
            </a:r>
            <a:r>
              <a:rPr b="1" lang="es" sz="1400">
                <a:solidFill>
                  <a:srgbClr val="000000"/>
                </a:solidFill>
              </a:rPr>
              <a:t>Katz </a:t>
            </a:r>
            <a:r>
              <a:rPr lang="es" sz="1400">
                <a:solidFill>
                  <a:srgbClr val="000000"/>
                </a:solidFill>
              </a:rPr>
              <a:t>(0,563).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00" y="1690350"/>
            <a:ext cx="8207376" cy="20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494275" y="3783500"/>
            <a:ext cx="81555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Resultados de predicción obtenidos para los distintos métodos.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</a:t>
            </a:r>
            <a:r>
              <a:rPr lang="es"/>
              <a:t>a) Curvas de características operativas del receptor (ROC)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(b) Curvas de precisión-recuperación (PR)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(c) Recuperación de deepDR y otros métodos contra la lista de predicciones.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17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749725"/>
            <a:ext cx="8520600" cy="42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</a:rPr>
              <a:t>Lenguajes:</a:t>
            </a:r>
            <a:r>
              <a:rPr lang="es" sz="1500">
                <a:solidFill>
                  <a:srgbClr val="000000"/>
                </a:solidFill>
              </a:rPr>
              <a:t> Python (93.7%) Matlab (6.3%)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</a:rPr>
              <a:t>Directorios: 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Dataset: Conjunto de medicamentos y enfermedades y las diez redes usadas como inputs.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Preprocessing: Código de procesamiento para generar la matriz PPMI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Directorio PPMI: Matrices PPMI de diez redes relacionadas con los fármacos.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00"/>
                </a:solidFill>
              </a:rPr>
              <a:t>Librerías: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</a:rPr>
              <a:t>Algunas de las librerías importadas en Python son: </a:t>
            </a:r>
            <a:endParaRPr sz="15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24292E"/>
              </a:buClr>
              <a:buSzPts val="1400"/>
              <a:buChar char="●"/>
            </a:pPr>
            <a:r>
              <a:rPr lang="es" sz="1400">
                <a:solidFill>
                  <a:srgbClr val="24292E"/>
                </a:solidFill>
                <a:highlight>
                  <a:srgbClr val="FFFFFF"/>
                </a:highlight>
              </a:rPr>
              <a:t>matplotlib </a:t>
            </a:r>
            <a:endParaRPr sz="14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Char char="●"/>
            </a:pPr>
            <a:r>
              <a:rPr lang="es" sz="1400">
                <a:solidFill>
                  <a:srgbClr val="24292E"/>
                </a:solidFill>
                <a:highlight>
                  <a:srgbClr val="FFFFFF"/>
                </a:highlight>
              </a:rPr>
              <a:t>matplotlib.pyplot</a:t>
            </a:r>
            <a:endParaRPr sz="14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Char char="●"/>
            </a:pPr>
            <a:r>
              <a:rPr lang="es" sz="1400">
                <a:solidFill>
                  <a:srgbClr val="24292E"/>
                </a:solidFill>
                <a:highlight>
                  <a:srgbClr val="FFFFFF"/>
                </a:highlight>
              </a:rPr>
              <a:t>os.path</a:t>
            </a:r>
            <a:endParaRPr sz="14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Char char="●"/>
            </a:pPr>
            <a:r>
              <a:rPr lang="es" sz="1400">
                <a:solidFill>
                  <a:srgbClr val="24292E"/>
                </a:solidFill>
                <a:highlight>
                  <a:srgbClr val="FFFFFF"/>
                </a:highlight>
              </a:rPr>
              <a:t>scipy.io</a:t>
            </a:r>
            <a:endParaRPr sz="1400">
              <a:solidFill>
                <a:srgbClr val="24292E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400"/>
              <a:buChar char="●"/>
            </a:pPr>
            <a:r>
              <a:rPr lang="es" sz="1400">
                <a:solidFill>
                  <a:srgbClr val="24292E"/>
                </a:solidFill>
                <a:highlight>
                  <a:srgbClr val="FFFFFF"/>
                </a:highlight>
              </a:rPr>
              <a:t>numpy</a:t>
            </a:r>
            <a:endParaRPr sz="1400">
              <a:solidFill>
                <a:srgbClr val="24292E"/>
              </a:solidFill>
              <a:highlight>
                <a:srgbClr val="FFFFFF"/>
              </a:highlight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3382200" y="3599175"/>
            <a:ext cx="44160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Calibri"/>
              <a:buChar char="●"/>
            </a:pPr>
            <a:r>
              <a:rPr lang="es" sz="1500">
                <a:solidFill>
                  <a:srgbClr val="2429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pickle</a:t>
            </a:r>
            <a:endParaRPr sz="1500">
              <a:solidFill>
                <a:srgbClr val="2429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Calibri"/>
              <a:buChar char="●"/>
            </a:pPr>
            <a:r>
              <a:rPr lang="es" sz="1500">
                <a:solidFill>
                  <a:srgbClr val="2429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sys</a:t>
            </a:r>
            <a:endParaRPr sz="1500">
              <a:solidFill>
                <a:srgbClr val="24292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500"/>
              <a:buFont typeface="Calibri"/>
              <a:buChar char="●"/>
            </a:pPr>
            <a:r>
              <a:rPr lang="es" sz="1500">
                <a:solidFill>
                  <a:srgbClr val="24292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...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